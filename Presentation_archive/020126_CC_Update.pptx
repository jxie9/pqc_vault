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8" r:id="rId2"/>
  </p:sldMasterIdLst>
  <p:notesMasterIdLst>
    <p:notesMasterId r:id="rId11"/>
  </p:notesMasterIdLst>
  <p:sldIdLst>
    <p:sldId id="256" r:id="rId3"/>
    <p:sldId id="257" r:id="rId4"/>
    <p:sldId id="258" r:id="rId5"/>
    <p:sldId id="273" r:id="rId6"/>
    <p:sldId id="265" r:id="rId7"/>
    <p:sldId id="260" r:id="rId8"/>
    <p:sldId id="261" r:id="rId9"/>
    <p:sldId id="259" r:id="rId10"/>
  </p:sldIdLst>
  <p:sldSz cx="9144000" cy="6858000" type="screen4x3"/>
  <p:notesSz cx="7010400" cy="92360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SGv5oRbBkH8B7y5Sn9qPPZX0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72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9" name="Google Shape;149;p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:notes"/>
          <p:cNvSpPr txBox="1">
            <a:spLocks noGrp="1"/>
          </p:cNvSpPr>
          <p:nvPr>
            <p:ph type="sldNum" idx="12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067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1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 sz="2400">
                <a:solidFill>
                  <a:srgbClr val="909090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  <a:defRPr>
                <a:solidFill>
                  <a:srgbClr val="909090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>
                <a:solidFill>
                  <a:srgbClr val="909090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DBD6C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>
                <a:solidFill>
                  <a:srgbClr val="444444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09090"/>
              </a:buClr>
              <a:buSzPts val="1400"/>
              <a:buNone/>
              <a:defRPr sz="1400">
                <a:solidFill>
                  <a:srgbClr val="909090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2286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2"/>
          </p:nvPr>
        </p:nvSpPr>
        <p:spPr>
          <a:xfrm>
            <a:off x="4648200" y="12192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228600" y="1189038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2"/>
          </p:nvPr>
        </p:nvSpPr>
        <p:spPr>
          <a:xfrm>
            <a:off x="228600" y="1828800"/>
            <a:ext cx="426878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3"/>
          </p:nvPr>
        </p:nvSpPr>
        <p:spPr>
          <a:xfrm>
            <a:off x="4645025" y="1189038"/>
            <a:ext cx="42703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4"/>
          </p:nvPr>
        </p:nvSpPr>
        <p:spPr>
          <a:xfrm>
            <a:off x="4645025" y="1828800"/>
            <a:ext cx="4270375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444444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28600" y="273050"/>
            <a:ext cx="32369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340350" cy="605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444444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2"/>
          </p:nvPr>
        </p:nvSpPr>
        <p:spPr>
          <a:xfrm>
            <a:off x="228600" y="1435100"/>
            <a:ext cx="3236913" cy="4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F4F3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solidFill>
                  <a:srgbClr val="4444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444444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444444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444444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444444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CB1F2E"/>
              </a:gs>
              <a:gs pos="100000">
                <a:srgbClr val="9517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8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>
            <a:gsLst>
              <a:gs pos="0">
                <a:srgbClr val="1F4CCB"/>
              </a:gs>
              <a:gs pos="100000">
                <a:srgbClr val="18309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8"/>
          <p:cNvSpPr/>
          <p:nvPr/>
        </p:nvSpPr>
        <p:spPr>
          <a:xfrm>
            <a:off x="0" y="914400"/>
            <a:ext cx="9144000" cy="152400"/>
          </a:xfrm>
          <a:prstGeom prst="rect">
            <a:avLst/>
          </a:prstGeom>
          <a:gradFill>
            <a:gsLst>
              <a:gs pos="0">
                <a:srgbClr val="BFBEB6"/>
              </a:gs>
              <a:gs pos="100000">
                <a:srgbClr val="F4F3E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BD6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444444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44444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2590800" y="6553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8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w="57150" cap="sq" cmpd="sng">
            <a:solidFill>
              <a:srgbClr val="ECC8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Jason Xie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r>
              <a:rPr lang="en-US" dirty="0"/>
              <a:t>Date: 01/28/2026</a:t>
            </a:r>
            <a:endParaRPr dirty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909090"/>
              </a:buClr>
              <a:buSzPts val="2400"/>
              <a:buNone/>
            </a:pPr>
            <a:endParaRPr dirty="0"/>
          </a:p>
        </p:txBody>
      </p:sp>
      <p:sp>
        <p:nvSpPr>
          <p:cNvPr id="153" name="Google Shape;153;p1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54" name="Google Shape;15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Creative Component Update</a:t>
            </a:r>
            <a:endParaRPr dirty="0"/>
          </a:p>
        </p:txBody>
      </p:sp>
      <p:sp>
        <p:nvSpPr>
          <p:cNvPr id="155" name="Google Shape;155;p1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Overview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/>
              <a:t>Learning HQC</a:t>
            </a:r>
          </a:p>
        </p:txBody>
      </p:sp>
      <p:sp>
        <p:nvSpPr>
          <p:cNvPr id="162" name="Google Shape;162;p2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63" name="Google Shape;163;p2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5000"/>
              </a:lnSpc>
            </a:pPr>
            <a:r>
              <a:rPr lang="en-US" sz="3200" dirty="0">
                <a:latin typeface="Arial"/>
                <a:cs typeface="Arial"/>
                <a:sym typeface="Arial"/>
              </a:rPr>
              <a:t>Recent approaches</a:t>
            </a:r>
            <a:endParaRPr lang="en-US" sz="3200" dirty="0">
              <a:latin typeface="Arial"/>
              <a:cs typeface="Arial"/>
            </a:endParaRPr>
          </a:p>
        </p:txBody>
      </p:sp>
      <p:sp>
        <p:nvSpPr>
          <p:cNvPr id="169" name="Google Shape;169;p3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Shift-and-add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Featured in earliest hardware implementations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Relies on sparsity?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Subject to recent side-channel attacks </a:t>
            </a: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Karatsuba and Toom-Cook 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Featured in most recent official software implementation of HQC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Dense solvers that are generally inefficient on hardware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Suffers at larger vector lengths</a:t>
            </a:r>
          </a:p>
          <a:p>
            <a:pPr marL="800100" lvl="1">
              <a:spcBef>
                <a:spcPts val="480"/>
              </a:spcBef>
              <a:buSzPts val="2400"/>
            </a:pPr>
            <a:r>
              <a:rPr lang="en-US" dirty="0"/>
              <a:t>Additive FFT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Complex hardware implementation</a:t>
            </a:r>
          </a:p>
          <a:p>
            <a:pPr marL="1257300" lvl="2">
              <a:spcBef>
                <a:spcPts val="480"/>
              </a:spcBef>
              <a:buSzPts val="2400"/>
            </a:pPr>
            <a:r>
              <a:rPr lang="en-US" dirty="0"/>
              <a:t>Hardware can be structurally similar to NTT (lattice)</a:t>
            </a: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71" name="Google Shape;171;p3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EED4-FA63-EE61-87D6-5E9E90F4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321CA-238D-5340-EEAA-E933CD38F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Non-exhaustive list of publications with optimizations or hardware implementations of polynomial multipliers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9FAAA-C459-CC96-0D2B-DEC5D91185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2B824-94CF-6610-9E55-1DE30FB3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357870"/>
            <a:ext cx="88011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4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5D09-F165-7C66-E71C-10EE7005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9893-AA05-9702-C26B-602698673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to sparse solvers</a:t>
            </a:r>
          </a:p>
          <a:p>
            <a:pPr lvl="1"/>
            <a:r>
              <a:rPr lang="en-US" dirty="0"/>
              <a:t>Specification notes that multiplications should be performed “without taking account the sparsity” to avoid leakage</a:t>
            </a:r>
          </a:p>
          <a:p>
            <a:r>
              <a:rPr lang="en-US" dirty="0"/>
              <a:t>“Cyber-agility”</a:t>
            </a:r>
          </a:p>
          <a:p>
            <a:pPr lvl="1"/>
            <a:r>
              <a:rPr lang="en-US" dirty="0"/>
              <a:t>Relative papers cite motive that system ability to switch between schemes are important to applications</a:t>
            </a:r>
          </a:p>
          <a:p>
            <a:pPr lvl="1"/>
            <a:r>
              <a:rPr lang="en-US" dirty="0"/>
              <a:t>As noted, Additive FFT approaches like FAFFT are structurally similar to NTT multipliers and were subjects to accelerators targeting both lattice and code schemes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AFBEF-52A0-AB9A-5BBD-CBFEF60E8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84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Short-term Tasks</a:t>
            </a:r>
            <a:endParaRPr dirty="0"/>
          </a:p>
        </p:txBody>
      </p: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topic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Finish reading through existing hardware implementations publications for HQC 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Finish reading recent sparse multiplier implementation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r>
              <a:rPr lang="en-US" dirty="0"/>
              <a:t>Finish reading KS+CRT and FAFFT paper</a:t>
            </a:r>
          </a:p>
          <a:p>
            <a:pPr marL="342900">
              <a:spcBef>
                <a:spcPts val="560"/>
              </a:spcBef>
              <a:buSzPts val="2800"/>
            </a:pPr>
            <a:r>
              <a:rPr lang="en-US" dirty="0"/>
              <a:t>Gain better understanding of binary polynomial multiplication relative to HQC</a:t>
            </a:r>
          </a:p>
          <a:p>
            <a:pPr marL="800100" lvl="1">
              <a:spcBef>
                <a:spcPts val="560"/>
              </a:spcBef>
              <a:buSzPts val="2800"/>
              <a:buChar char="•"/>
            </a:pPr>
            <a:endParaRPr lang="en-US" dirty="0"/>
          </a:p>
          <a:p>
            <a:pPr marL="800100" lvl="1">
              <a:spcBef>
                <a:spcPts val="560"/>
              </a:spcBef>
              <a:buSzPts val="2800"/>
              <a:buChar char="•"/>
            </a:pPr>
            <a:endParaRPr lang="en-US" dirty="0"/>
          </a:p>
        </p:txBody>
      </p:sp>
      <p:sp>
        <p:nvSpPr>
          <p:cNvPr id="186" name="Google Shape;186;p5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Longer-term Tasks</a:t>
            </a:r>
            <a:endParaRPr dirty="0"/>
          </a:p>
        </p:txBody>
      </p:sp>
      <p:sp>
        <p:nvSpPr>
          <p:cNvPr id="193" name="Google Shape;193;p6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Narrow down a topic</a:t>
            </a: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5" name="Google Shape;195;p6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228600" y="-1524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Binary Poly multiplication for HQC</a:t>
            </a:r>
            <a:endParaRPr dirty="0"/>
          </a:p>
        </p:txBody>
      </p:sp>
      <p:sp>
        <p:nvSpPr>
          <p:cNvPr id="177" name="Google Shape;177;p4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Char char="•"/>
            </a:pPr>
            <a:endParaRPr lang="en-US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rgbClr val="444444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>
            <a:spLocks noGrp="1"/>
          </p:cNvSpPr>
          <p:nvPr>
            <p:ph type="sldNum" idx="12"/>
          </p:nvPr>
        </p:nvSpPr>
        <p:spPr>
          <a:xfrm>
            <a:off x="67818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9" name="Google Shape;179;p4"/>
          <p:cNvSpPr txBox="1">
            <a:spLocks noGrp="1"/>
          </p:cNvSpPr>
          <p:nvPr>
            <p:ph type="dt" idx="10"/>
          </p:nvPr>
        </p:nvSpPr>
        <p:spPr>
          <a:xfrm>
            <a:off x="228600" y="65532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Iowa State University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61;p2">
                <a:extLst>
                  <a:ext uri="{FF2B5EF4-FFF2-40B4-BE49-F238E27FC236}">
                    <a16:creationId xmlns:a16="http://schemas.microsoft.com/office/drawing/2014/main" id="{015875A4-4C4D-9F83-05AD-A4B0C0C8A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1143000"/>
                <a:ext cx="8686800" cy="518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–"/>
                  <a:defRPr sz="24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–"/>
                  <a:defRPr sz="1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rgbClr val="444444"/>
                  </a:buClr>
                  <a:buSzPts val="1800"/>
                  <a:buFont typeface="Arial"/>
                  <a:buChar char="»"/>
                  <a:defRPr sz="1800" b="0" i="0" u="none" strike="noStrike" cap="none">
                    <a:solidFill>
                      <a:srgbClr val="444444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 eaLnBrk="1" hangingPunct="1">
                  <a:lnSpc>
                    <a:spcPct val="100000"/>
                  </a:lnSpc>
                  <a:spcBef>
                    <a:spcPts val="36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342900">
                  <a:spcBef>
                    <a:spcPts val="560"/>
                  </a:spcBef>
                  <a:buSzPts val="2800"/>
                </a:pPr>
                <a:r>
                  <a:rPr lang="en-US" b="0" dirty="0">
                    <a:ea typeface="Cambria Math" panose="02040503050406030204" pitchFamily="18" charset="0"/>
                  </a:rPr>
                  <a:t>Multiplication is done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800100" lvl="1">
                  <a:spcBef>
                    <a:spcPts val="560"/>
                  </a:spcBef>
                  <a:buSzPts val="28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Polynomials with coefficients that are either 1 or 0</a:t>
                </a:r>
              </a:p>
              <a:p>
                <a:pPr marL="800100" lvl="1">
                  <a:spcBef>
                    <a:spcPts val="560"/>
                  </a:spcBef>
                  <a:buSzPts val="2800"/>
                </a:pPr>
                <a:r>
                  <a:rPr lang="en-US" dirty="0"/>
                  <a:t>Two polynomials are equal if they differ by a multiple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342900">
                  <a:spcBef>
                    <a:spcPts val="560"/>
                  </a:spcBef>
                  <a:buSzPts val="2800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800100" lvl="1">
                  <a:spcBef>
                    <a:spcPts val="560"/>
                  </a:spcBef>
                  <a:buSzPts val="2800"/>
                </a:pPr>
                <a:endParaRPr lang="en-US" dirty="0"/>
              </a:p>
              <a:p>
                <a:pPr marL="342900">
                  <a:spcBef>
                    <a:spcPts val="560"/>
                  </a:spcBef>
                  <a:buSzPts val="2800"/>
                </a:pPr>
                <a:endParaRPr lang="en-US" dirty="0"/>
              </a:p>
            </p:txBody>
          </p:sp>
        </mc:Choice>
        <mc:Fallback xmlns="">
          <p:sp>
            <p:nvSpPr>
              <p:cNvPr id="2" name="Google Shape;161;p2">
                <a:extLst>
                  <a:ext uri="{FF2B5EF4-FFF2-40B4-BE49-F238E27FC236}">
                    <a16:creationId xmlns:a16="http://schemas.microsoft.com/office/drawing/2014/main" id="{015875A4-4C4D-9F83-05AD-A4B0C0C8A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43000"/>
                <a:ext cx="8686800" cy="5181600"/>
              </a:xfrm>
              <a:prstGeom prst="rect">
                <a:avLst/>
              </a:prstGeom>
              <a:blipFill>
                <a:blip r:embed="rId3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064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ISU">
      <a:dk1>
        <a:srgbClr val="3F3F3F"/>
      </a:dk1>
      <a:lt1>
        <a:srgbClr val="FFFFFF"/>
      </a:lt1>
      <a:dk2>
        <a:srgbClr val="3F3F3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012226_CC_Update</Template>
  <TotalTime>1474</TotalTime>
  <Words>277</Words>
  <Application>Microsoft Office PowerPoint</Application>
  <PresentationFormat>On-screen Show (4:3)</PresentationFormat>
  <Paragraphs>53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1_Office Theme</vt:lpstr>
      <vt:lpstr>Creative Component Update</vt:lpstr>
      <vt:lpstr>Overview</vt:lpstr>
      <vt:lpstr>Recent approaches</vt:lpstr>
      <vt:lpstr>Polynomial Multiplier</vt:lpstr>
      <vt:lpstr>Other considerations</vt:lpstr>
      <vt:lpstr>Short-term Tasks</vt:lpstr>
      <vt:lpstr>Longer-term Tasks</vt:lpstr>
      <vt:lpstr>Binary Poly multiplication for HQC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Xie, Jason G</dc:creator>
  <cp:lastModifiedBy>Xie, Jason G</cp:lastModifiedBy>
  <cp:revision>2</cp:revision>
  <dcterms:created xsi:type="dcterms:W3CDTF">2026-01-28T14:26:11Z</dcterms:created>
  <dcterms:modified xsi:type="dcterms:W3CDTF">2026-02-02T17:39:15Z</dcterms:modified>
</cp:coreProperties>
</file>