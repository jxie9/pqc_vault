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8" r:id="rId2"/>
  </p:sldMasterIdLst>
  <p:notesMasterIdLst>
    <p:notesMasterId r:id="rId18"/>
  </p:notesMasterIdLst>
  <p:sldIdLst>
    <p:sldId id="256" r:id="rId3"/>
    <p:sldId id="257" r:id="rId4"/>
    <p:sldId id="259" r:id="rId5"/>
    <p:sldId id="258" r:id="rId6"/>
    <p:sldId id="265" r:id="rId7"/>
    <p:sldId id="271" r:id="rId8"/>
    <p:sldId id="273" r:id="rId9"/>
    <p:sldId id="266" r:id="rId10"/>
    <p:sldId id="272" r:id="rId11"/>
    <p:sldId id="267" r:id="rId12"/>
    <p:sldId id="268" r:id="rId13"/>
    <p:sldId id="269" r:id="rId14"/>
    <p:sldId id="270" r:id="rId15"/>
    <p:sldId id="260" r:id="rId16"/>
    <p:sldId id="261" r:id="rId17"/>
  </p:sldIdLst>
  <p:sldSz cx="9144000" cy="6858000" type="screen4x3"/>
  <p:notesSz cx="7010400" cy="92360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SGv5oRbBkH8B7y5Sn9qPPZX0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758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:notes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 sz="2400">
                <a:solidFill>
                  <a:srgbClr val="909090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>
                <a:solidFill>
                  <a:srgbClr val="909090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DBD6C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>
                <a:solidFill>
                  <a:srgbClr val="444444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1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28600" y="1189038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2"/>
          </p:nvPr>
        </p:nvSpPr>
        <p:spPr>
          <a:xfrm>
            <a:off x="228600" y="1828800"/>
            <a:ext cx="426878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3"/>
          </p:nvPr>
        </p:nvSpPr>
        <p:spPr>
          <a:xfrm>
            <a:off x="4645025" y="1189038"/>
            <a:ext cx="42703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4"/>
          </p:nvPr>
        </p:nvSpPr>
        <p:spPr>
          <a:xfrm>
            <a:off x="4645025" y="1828800"/>
            <a:ext cx="427037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228600" y="273050"/>
            <a:ext cx="32369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340350" cy="605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2"/>
          </p:nvPr>
        </p:nvSpPr>
        <p:spPr>
          <a:xfrm>
            <a:off x="228600" y="1435100"/>
            <a:ext cx="3236913" cy="4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4444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 sz="2400">
                <a:solidFill>
                  <a:srgbClr val="909090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>
                <a:solidFill>
                  <a:srgbClr val="909090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DBD6C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>
                <a:solidFill>
                  <a:srgbClr val="444444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228600" y="1189038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2"/>
          </p:nvPr>
        </p:nvSpPr>
        <p:spPr>
          <a:xfrm>
            <a:off x="228600" y="1828800"/>
            <a:ext cx="426878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3"/>
          </p:nvPr>
        </p:nvSpPr>
        <p:spPr>
          <a:xfrm>
            <a:off x="4645025" y="1189038"/>
            <a:ext cx="42703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4"/>
          </p:nvPr>
        </p:nvSpPr>
        <p:spPr>
          <a:xfrm>
            <a:off x="4645025" y="1828800"/>
            <a:ext cx="427037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28600" y="273050"/>
            <a:ext cx="32369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340350" cy="605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2"/>
          </p:nvPr>
        </p:nvSpPr>
        <p:spPr>
          <a:xfrm>
            <a:off x="228600" y="1435100"/>
            <a:ext cx="3236913" cy="4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4444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CB1F2E"/>
              </a:gs>
              <a:gs pos="100000">
                <a:srgbClr val="9517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0" y="914400"/>
            <a:ext cx="9144000" cy="152400"/>
          </a:xfrm>
          <a:prstGeom prst="rect">
            <a:avLst/>
          </a:prstGeom>
          <a:gradFill>
            <a:gsLst>
              <a:gs pos="0">
                <a:srgbClr val="BFBEB6"/>
              </a:gs>
              <a:gs pos="100000">
                <a:srgbClr val="F4F3E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BD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w="57150" cap="sq" cmpd="sng">
            <a:solidFill>
              <a:srgbClr val="ECC8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8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1F4CCB"/>
              </a:gs>
              <a:gs pos="100000">
                <a:srgbClr val="18309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0" y="914400"/>
            <a:ext cx="9144000" cy="152400"/>
          </a:xfrm>
          <a:prstGeom prst="rect">
            <a:avLst/>
          </a:prstGeom>
          <a:gradFill>
            <a:gsLst>
              <a:gs pos="0">
                <a:srgbClr val="BFBEB6"/>
              </a:gs>
              <a:gs pos="100000">
                <a:srgbClr val="F4F3E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BD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w="57150" cap="sq" cmpd="sng">
            <a:solidFill>
              <a:srgbClr val="ECC8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r>
              <a:rPr lang="en-US" dirty="0"/>
              <a:t>Jason Xie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r>
              <a:rPr lang="en-US" dirty="0"/>
              <a:t>Date: 12/18/2025 -&gt; 01/21/2026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endParaRPr dirty="0"/>
          </a:p>
        </p:txBody>
      </p:sp>
      <p:sp>
        <p:nvSpPr>
          <p:cNvPr id="153" name="Google Shape;153;p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54" name="Google Shape;15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Creative Component Update</a:t>
            </a:r>
            <a:endParaRPr dirty="0"/>
          </a:p>
        </p:txBody>
      </p:sp>
      <p:sp>
        <p:nvSpPr>
          <p:cNvPr id="155" name="Google Shape;155;p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Overview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Learning Falcon 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Went through existing specifications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Played around with existing implementation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/>
              <a:t>Learning HQC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Went through existing specifications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Looked through existing testbenches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Finished reading some earlier hardware implementations (Just trying to gain a better intuition of some of the operations)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63" name="Google Shape;163;p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HQC (FIPS-207) Motivation</a:t>
            </a:r>
            <a:endParaRPr dirty="0"/>
          </a:p>
        </p:txBody>
      </p:sp>
      <p:sp>
        <p:nvSpPr>
          <p:cNvPr id="177" name="Google Shape;177;p4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round NIST selected HQC for FIPS-207</a:t>
            </a:r>
          </a:p>
          <a:p>
            <a:pPr marL="342900">
              <a:spcBef>
                <a:spcPts val="560"/>
              </a:spcBef>
              <a:buSzPts val="28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Believed it was a good backup for a </a:t>
            </a:r>
            <a:r>
              <a:rPr lang="en-US" dirty="0"/>
              <a:t>general encryption standard to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Kyber (ML-KEM) in case Lattice-based approaches prove vulnerable </a:t>
            </a:r>
          </a:p>
          <a:p>
            <a:pPr marL="342900">
              <a:spcBef>
                <a:spcPts val="560"/>
              </a:spcBef>
              <a:buSzPts val="28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far, the only code-based standard to be selected</a:t>
            </a:r>
          </a:p>
          <a:p>
            <a:pPr marL="342900">
              <a:spcBef>
                <a:spcPts val="560"/>
              </a:spcBef>
              <a:buSzPts val="2800"/>
            </a:pPr>
            <a:r>
              <a:rPr lang="en-US" dirty="0"/>
              <a:t>Limitations – per specifications:</a:t>
            </a:r>
          </a:p>
          <a:p>
            <a:pPr marL="800100" lvl="1">
              <a:spcBef>
                <a:spcPts val="560"/>
              </a:spcBef>
              <a:buSzPts val="28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Low encryption rates, so larger plaintexts -&gt; increased parameters</a:t>
            </a:r>
          </a:p>
          <a:p>
            <a:pPr marL="800100" lvl="1">
              <a:spcBef>
                <a:spcPts val="560"/>
              </a:spcBef>
              <a:buSzPts val="28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Generally less efficient implementations compared to lattice-based KEMs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79" name="Google Shape;179;p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5000"/>
              </a:lnSpc>
            </a:pPr>
            <a:r>
              <a:rPr lang="en-US" sz="3200" dirty="0">
                <a:latin typeface="Arial"/>
                <a:cs typeface="Arial"/>
                <a:sym typeface="Arial"/>
              </a:rPr>
              <a:t>HQC in a nutshell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169" name="Google Shape;169;p3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Key generation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Produces a public key pair and a secret key pair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Public key consists of a random polynomial and computed polynomial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Secret key consists of</a:t>
            </a:r>
            <a:r>
              <a:rPr lang="en-US" dirty="0"/>
              <a:t> two sparse polynomials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Encapsulation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Given the public key, provides a derived shared secret key and cipher text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The cipher text contains encrypted noise under the public key, the random noise hashed (usually by SHAKE 256), and a salt string</a:t>
            </a:r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Decapsulation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Given the secret key and KEM, returns a pass or fail</a:t>
            </a:r>
            <a:endParaRPr lang="en-US" dirty="0"/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I’ve documented a more detailed breakdown on the functions’ algorithms in my Obsidian vault for future reference</a:t>
            </a: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1" name="Google Shape;171;p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5D09-F165-7C66-E71C-10EE7005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HQC Bottlenecks and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9893-AA05-9702-C26B-602698673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Polynomial multiplication</a:t>
            </a:r>
          </a:p>
          <a:p>
            <a:pPr lvl="1"/>
            <a:r>
              <a:rPr lang="en-US" dirty="0"/>
              <a:t>Per the papers I’ve read, this is the most obvious computational bottleneck</a:t>
            </a:r>
          </a:p>
          <a:p>
            <a:pPr lvl="2"/>
            <a:r>
              <a:rPr lang="en-US" dirty="0"/>
              <a:t>Playing around with Linux Perf, we can see this clearly as well</a:t>
            </a:r>
          </a:p>
          <a:p>
            <a:pPr lvl="1"/>
            <a:r>
              <a:rPr lang="en-US" dirty="0"/>
              <a:t>All KEM and PKE functions are dominated by this operation</a:t>
            </a:r>
          </a:p>
          <a:p>
            <a:pPr lvl="1"/>
            <a:r>
              <a:rPr lang="en-US" dirty="0"/>
              <a:t>Most of the implementation papers from IACR alone are focused on improving this aspect</a:t>
            </a:r>
          </a:p>
          <a:p>
            <a:r>
              <a:rPr lang="en-US" dirty="0"/>
              <a:t>Known attacks on existing hardware implementations</a:t>
            </a:r>
          </a:p>
          <a:p>
            <a:pPr lvl="1"/>
            <a:r>
              <a:rPr lang="en-US" dirty="0"/>
              <a:t>Original and some existing hardware implementations are susceptible to side channel attacks</a:t>
            </a:r>
          </a:p>
          <a:p>
            <a:pPr lvl="1"/>
            <a:r>
              <a:rPr lang="en-US" dirty="0"/>
              <a:t>Some of these have already been “solved”, but I’d like to keep them in mind as provided solutions have some PPA trade-offs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AFBEF-52A0-AB9A-5BBD-CBFEF60E88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8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4B09-D990-826C-BCF4-F6CF681F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HQC-1 perf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F20FE-9E9D-A4B2-5B32-493E670B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3236186"/>
            <a:ext cx="4637972" cy="3088413"/>
          </a:xfrm>
        </p:spPr>
        <p:txBody>
          <a:bodyPr/>
          <a:lstStyle/>
          <a:p>
            <a:r>
              <a:rPr lang="en-US" sz="2000" dirty="0"/>
              <a:t>Using Linux perf, we can see very clearly that the vector multiplication dominates all three functions</a:t>
            </a:r>
          </a:p>
          <a:p>
            <a:r>
              <a:rPr lang="en-US" sz="2000" dirty="0"/>
              <a:t>In other papers that provided similar metrics, but with different multipliers, the vector multiplication function still dominates the scheme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AB81-B4E6-20FE-2F52-ADFF47697E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831B1D-5DFE-9647-964A-2278A731F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152" y="3229147"/>
            <a:ext cx="3990248" cy="3088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7E2B86-D707-79C5-C2DB-944389D1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98" y="997639"/>
            <a:ext cx="8462803" cy="223854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05A0B2-520A-4C74-1BB3-DAD48B875DB2}"/>
              </a:ext>
            </a:extLst>
          </p:cNvPr>
          <p:cNvSpPr/>
          <p:nvPr/>
        </p:nvSpPr>
        <p:spPr>
          <a:xfrm>
            <a:off x="4925152" y="4461536"/>
            <a:ext cx="3924276" cy="1472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6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EED4-FA63-EE61-87D6-5E9E90F4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321CA-238D-5340-EEAA-E933CD38F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Non-exhaustive list of publications with optimizations or hardware implementations of polynomial multipliers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9FAAA-C459-CC96-0D2B-DEC5D91185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2B824-94CF-6610-9E55-1DE30FB3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357870"/>
            <a:ext cx="88011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4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0BA2-BAE9-1850-5A23-203669B8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98943-37FC-0DB9-B9C7-5BD9A4207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HQC implementation uses Toom-Karatsuba (TK)</a:t>
            </a:r>
          </a:p>
          <a:p>
            <a:r>
              <a:rPr lang="en-US" dirty="0"/>
              <a:t>FFT based multipliers </a:t>
            </a:r>
          </a:p>
          <a:p>
            <a:pPr lvl="1"/>
            <a:r>
              <a:rPr lang="en-US" dirty="0"/>
              <a:t>Frobenius Additive Fast Fourier Transform</a:t>
            </a:r>
          </a:p>
          <a:p>
            <a:pPr lvl="2"/>
            <a:r>
              <a:rPr lang="en-US" dirty="0"/>
              <a:t>Implemented on processor and RTL</a:t>
            </a:r>
          </a:p>
          <a:p>
            <a:pPr lvl="2"/>
            <a:r>
              <a:rPr lang="en-US" dirty="0"/>
              <a:t>Generally better for long </a:t>
            </a:r>
            <a:r>
              <a:rPr lang="en-US" dirty="0" err="1"/>
              <a:t>mult</a:t>
            </a:r>
            <a:r>
              <a:rPr lang="en-US" dirty="0"/>
              <a:t> instructions for processors than TK</a:t>
            </a:r>
          </a:p>
          <a:p>
            <a:pPr lvl="1"/>
            <a:r>
              <a:rPr lang="en-US" dirty="0"/>
              <a:t>Kronecker Segmentation + Chinese Remainder Theorem</a:t>
            </a:r>
          </a:p>
          <a:p>
            <a:pPr lvl="2"/>
            <a:r>
              <a:rPr lang="en-US" dirty="0"/>
              <a:t>Implemented on processor</a:t>
            </a:r>
          </a:p>
          <a:p>
            <a:pPr lvl="2"/>
            <a:r>
              <a:rPr lang="en-US" dirty="0"/>
              <a:t>Generally better for short </a:t>
            </a:r>
            <a:r>
              <a:rPr lang="en-US" dirty="0" err="1"/>
              <a:t>mult</a:t>
            </a:r>
            <a:r>
              <a:rPr lang="en-US" dirty="0"/>
              <a:t> instructions for processors than TK</a:t>
            </a:r>
          </a:p>
          <a:p>
            <a:r>
              <a:rPr lang="en-US" dirty="0"/>
              <a:t>Shift-add multipliers</a:t>
            </a:r>
          </a:p>
          <a:p>
            <a:pPr lvl="1"/>
            <a:r>
              <a:rPr lang="en-US" dirty="0"/>
              <a:t>Common in hardware implementations due to efficiency compared to TK</a:t>
            </a:r>
          </a:p>
          <a:p>
            <a:pPr lvl="2"/>
            <a:r>
              <a:rPr lang="en-US" dirty="0"/>
              <a:t>Implemented on processor and RTL</a:t>
            </a:r>
          </a:p>
          <a:p>
            <a:pPr lvl="1"/>
            <a:r>
              <a:rPr lang="en-US" dirty="0"/>
              <a:t>Naïve implementations subject to power side-channel attacks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32A7F-8D61-11C6-9D69-7B111B03F5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3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1681-66BB-6068-B3BA-D970EF1F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52461-AEAD-8076-B3FD-54C251E1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processor and embedded platforms, it was noted that the best multiplier depends greatly on </a:t>
            </a:r>
            <a:r>
              <a:rPr lang="el-GR" dirty="0"/>
              <a:t>μ</a:t>
            </a:r>
            <a:r>
              <a:rPr lang="en-US" dirty="0"/>
              <a:t>Arch and ISA </a:t>
            </a:r>
          </a:p>
          <a:p>
            <a:r>
              <a:rPr lang="en-US" dirty="0"/>
              <a:t>“Cyber agility” or the ability to switch between schemes was also a topic of another paper </a:t>
            </a:r>
          </a:p>
          <a:p>
            <a:pPr lvl="1"/>
            <a:r>
              <a:rPr lang="en-US" dirty="0"/>
              <a:t>Ie; since the FAFFT multiplier was similar to the NTT operation in ML-KEM (Kyber), the system could switch between schemes with low overhead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A81DB-39A7-F34C-EB42-307679E5C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53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5DB6-4905-5ECA-BC7D-8F93CDC9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Recovery by Timing Side Channel Attacks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66AAE-B8E1-B1E9-74BD-DF6385B8E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have been a couple demonstrations by papers published on ITAR where the secret key could be recovered via timing attacks</a:t>
            </a:r>
          </a:p>
          <a:p>
            <a:r>
              <a:rPr lang="en-US" dirty="0"/>
              <a:t>These attacks could be mitigated by constant time implementations or masked implementations</a:t>
            </a:r>
          </a:p>
          <a:p>
            <a:pPr lvl="1"/>
            <a:r>
              <a:rPr lang="en-US" dirty="0"/>
              <a:t>In ITAR, there are three papers that speak on masked implementations, but I haven’t read them yet</a:t>
            </a:r>
          </a:p>
          <a:p>
            <a:pPr lvl="1"/>
            <a:r>
              <a:rPr lang="en-US" dirty="0"/>
              <a:t>It might be worth noting these papers are a bit older and this particular attack hasn’t been mentioned in most of the newer papers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1EEC0-AC0C-797F-E87D-24ED13A4D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2154-848B-8513-1AB3-EDB43A01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Recovery by Power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70184-C8CD-9612-170A-7BB55420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Power Analysis (CPA) was first found in a paper attacking a BIKE FPGA implementation with a shift-and-add multiplier</a:t>
            </a:r>
          </a:p>
          <a:p>
            <a:pPr lvl="1"/>
            <a:r>
              <a:rPr lang="en-US" dirty="0"/>
              <a:t>Found that the sequential and index-driven nature of multiplier produced intermediate values in traces which allowed for key recovery </a:t>
            </a:r>
          </a:p>
          <a:p>
            <a:r>
              <a:rPr lang="en-US" dirty="0"/>
              <a:t>One solution was to insert dummies by duplicating some values during multiplication</a:t>
            </a:r>
          </a:p>
          <a:p>
            <a:pPr lvl="1"/>
            <a:r>
              <a:rPr lang="en-US" dirty="0"/>
              <a:t>This effectively introduces some noise in the traces and masks memory access, making key recovery by CPA much more difficult</a:t>
            </a:r>
          </a:p>
          <a:p>
            <a:pPr lvl="1"/>
            <a:r>
              <a:rPr lang="en-US" dirty="0"/>
              <a:t>Increase in PPA, but enables parallelism passively and protection from CPA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D6B96-5937-94DD-245C-D4F187C204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5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6FCE-6750-F31E-55B1-E3CCFA5D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Recovery by RM Leakage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AF933-41DF-30DB-561E-C349A1E4F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week, a preprint was released exposing a leakage point in the Reed Muller encoding process</a:t>
            </a:r>
          </a:p>
          <a:p>
            <a:pPr lvl="1"/>
            <a:r>
              <a:rPr lang="en-US" dirty="0"/>
              <a:t>By exploiting the bit-to-word expansion in the encoder, the full 128-bit message can be recovered</a:t>
            </a:r>
          </a:p>
          <a:p>
            <a:pPr lvl="1"/>
            <a:r>
              <a:rPr lang="en-US" dirty="0"/>
              <a:t>I haven’t finished reading this yet – but I felt this paper was notable as it’s the first attack on the encoder I’ve seen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56D03-3DAD-DEC3-920F-72EAD4F98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2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CDDF-55EA-50F2-7826-430BD8D32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bank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A0BB-9A63-772C-A2B4-0AE953A87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Acceleration or optimization of polynomial multiplier?</a:t>
            </a:r>
          </a:p>
          <a:p>
            <a:pPr lvl="1"/>
            <a:r>
              <a:rPr lang="en-US" dirty="0"/>
              <a:t>Improve “cyber agility” for existing multipliers</a:t>
            </a:r>
          </a:p>
          <a:p>
            <a:pPr lvl="2"/>
            <a:r>
              <a:rPr lang="en-US" dirty="0"/>
              <a:t>Ie; explore reusability of parallel shift-add multiplier with dummies for NTT and Lattice based schemes (Like Kyber)</a:t>
            </a:r>
          </a:p>
          <a:p>
            <a:pPr lvl="1"/>
            <a:r>
              <a:rPr lang="en-US" dirty="0"/>
              <a:t>Implement or explore implementations of existing processor multipliers on RTL </a:t>
            </a:r>
          </a:p>
          <a:p>
            <a:pPr lvl="2"/>
            <a:r>
              <a:rPr lang="en-US" dirty="0"/>
              <a:t>Ie; KS+CRT multiplier </a:t>
            </a:r>
          </a:p>
          <a:p>
            <a:pPr lvl="1"/>
            <a:r>
              <a:rPr lang="en-US" dirty="0"/>
              <a:t>Explore multipliers used in other code-based scheme implementations</a:t>
            </a:r>
          </a:p>
          <a:p>
            <a:pPr lvl="2"/>
            <a:r>
              <a:rPr lang="en-US" dirty="0"/>
              <a:t>Ie; BIKE and Classic </a:t>
            </a:r>
            <a:r>
              <a:rPr lang="en-US" dirty="0" err="1"/>
              <a:t>McEliece</a:t>
            </a:r>
            <a:r>
              <a:rPr lang="en-US" dirty="0"/>
              <a:t> implementations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7BEF0-69B8-0397-FBB4-CD29554E80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1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Short-term Tasks</a:t>
            </a:r>
            <a:endParaRPr dirty="0"/>
          </a:p>
        </p:txBody>
      </p:sp>
      <p:sp>
        <p:nvSpPr>
          <p:cNvPr id="185" name="Google Shape;185;p5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Narrow down topic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Finish reading through existing hardware implementations publications for HQC published by ITAR</a:t>
            </a:r>
          </a:p>
          <a:p>
            <a:pPr marL="800100" lvl="1">
              <a:spcBef>
                <a:spcPts val="560"/>
              </a:spcBef>
              <a:buSzPts val="2800"/>
              <a:buFont typeface="Arial"/>
              <a:buChar char="•"/>
            </a:pPr>
            <a:r>
              <a:rPr lang="en-US" dirty="0"/>
              <a:t>Exhaust publications regarding known attacks on existing hardware implementations </a:t>
            </a:r>
          </a:p>
          <a:p>
            <a:pPr marL="800100" lvl="1">
              <a:spcBef>
                <a:spcPts val="560"/>
              </a:spcBef>
              <a:buSzPts val="2800"/>
              <a:buFont typeface="Arial"/>
              <a:buChar char="•"/>
            </a:pPr>
            <a:r>
              <a:rPr lang="en-US" dirty="0"/>
              <a:t>Finish reading RM leakage paper</a:t>
            </a:r>
          </a:p>
          <a:p>
            <a:pPr marL="800100" lvl="1">
              <a:spcBef>
                <a:spcPts val="560"/>
              </a:spcBef>
              <a:buSzPts val="2800"/>
              <a:buFont typeface="Arial"/>
              <a:buChar char="•"/>
            </a:pPr>
            <a:r>
              <a:rPr lang="en-US" dirty="0"/>
              <a:t>Finish reading paper for masked implementation</a:t>
            </a:r>
          </a:p>
        </p:txBody>
      </p:sp>
      <p:sp>
        <p:nvSpPr>
          <p:cNvPr id="186" name="Google Shape;186;p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Longer-term Tasks</a:t>
            </a:r>
            <a:endParaRPr dirty="0"/>
          </a:p>
        </p:txBody>
      </p:sp>
      <p:sp>
        <p:nvSpPr>
          <p:cNvPr id="193" name="Google Shape;193;p6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Narrow down a topic</a:t>
            </a: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SU">
      <a:dk1>
        <a:srgbClr val="3F3F3F"/>
      </a:dk1>
      <a:lt1>
        <a:srgbClr val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ISU">
      <a:dk1>
        <a:srgbClr val="3F3F3F"/>
      </a:dk1>
      <a:lt1>
        <a:srgbClr val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WSR_Template</Template>
  <TotalTime>1429</TotalTime>
  <Words>897</Words>
  <Application>Microsoft Office PowerPoint</Application>
  <PresentationFormat>On-screen Show (4:3)</PresentationFormat>
  <Paragraphs>113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Office Theme</vt:lpstr>
      <vt:lpstr>1_Office Theme</vt:lpstr>
      <vt:lpstr>Creative Component Update</vt:lpstr>
      <vt:lpstr>Overview</vt:lpstr>
      <vt:lpstr>HQC (FIPS-207) Motivation</vt:lpstr>
      <vt:lpstr>HQC in a nutshell</vt:lpstr>
      <vt:lpstr>HQC Bottlenecks and Limitations</vt:lpstr>
      <vt:lpstr>HQC-1 perf</vt:lpstr>
      <vt:lpstr>Polynomial Multiplier</vt:lpstr>
      <vt:lpstr>Polynomial Multiplier</vt:lpstr>
      <vt:lpstr>Polynomial Multiplier</vt:lpstr>
      <vt:lpstr>Key Recovery by Timing Side Channel Attacks</vt:lpstr>
      <vt:lpstr>Key Recovery by Power Analysis</vt:lpstr>
      <vt:lpstr>Message Recovery by RM Leakage</vt:lpstr>
      <vt:lpstr>Topic bank</vt:lpstr>
      <vt:lpstr>Short-term Tasks</vt:lpstr>
      <vt:lpstr>Longer-term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Xie, Jason G</dc:creator>
  <cp:lastModifiedBy>Xie, Jason G</cp:lastModifiedBy>
  <cp:revision>7</cp:revision>
  <dcterms:created xsi:type="dcterms:W3CDTF">2025-12-03T05:44:26Z</dcterms:created>
  <dcterms:modified xsi:type="dcterms:W3CDTF">2026-01-22T15:19:32Z</dcterms:modified>
</cp:coreProperties>
</file>